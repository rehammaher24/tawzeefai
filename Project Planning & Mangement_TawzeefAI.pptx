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7C60F1D6-74E1-E04A-95AF-C097484A8EA5}">
          <p14:sldIdLst>
            <p14:sldId id="256"/>
            <p14:sldId id="257"/>
          </p14:sldIdLst>
        </p14:section>
        <p14:section name="Timeline" id="{6CCA3C5A-2362-4F6A-A3DE-62C74360FF5C}">
          <p14:sldIdLst>
            <p14:sldId id="265"/>
            <p14:sldId id="266"/>
          </p14:sldIdLst>
        </p14:section>
        <p14:section name="Architecture" id="{80305662-F35E-2C8A-572A-9ED2A21CE64E}">
          <p14:sldIdLst>
            <p14:sldId id="258"/>
            <p14:sldId id="259"/>
            <p14:sldId id="260"/>
            <p14:sldId id="261"/>
          </p14:sldIdLst>
        </p14:section>
        <p14:section name="Delivery" id="{C836EE0C-39BC-5B24-879B-1FDBB8833D40}">
          <p14:sldIdLst>
            <p14:sldId id="262"/>
          </p14:sldIdLst>
        </p14:section>
        <p14:section name="Roles" id="{9C04A927-4F76-4932-BEBB-2342DC3BF3B8}">
          <p14:sldIdLst>
            <p14:sldId id="263"/>
          </p14:sldIdLst>
        </p14:section>
        <p14:section name="Risk Assessment" id="{DAB2A8C0-42E8-4C0E-AB09-A0BAAF2BFB5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7" d="100"/>
          <a:sy n="97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87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bg1"/>
                </a:solidFill>
              </a:rPr>
              <a:t>TawzeefAI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bg2"/>
                </a:solidFill>
              </a:rPr>
              <a:t>HR &amp; Recruitment Screening Assistant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Detailed system architecture  |  Generative &amp; Agentic AI Systems Capstone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800600"/>
            <a:ext cx="23774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Agent 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LangGraph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47548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4800600"/>
            <a:ext cx="23774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RAG Integration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LangChain + Chroma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47548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4800600"/>
            <a:ext cx="23774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UI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Streamlit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475488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52560" y="4800600"/>
            <a:ext cx="23774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Deployment</a:t>
            </a:r>
            <a:endParaRPr lang="en-US" sz="12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FastAPI +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TawzeefAI must deliver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Screens résumés against real job requirements, matches candidates to roles, answers employee HR-policy questions, and schedules interviews, mapped onto the four required capstone pillars.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901952"/>
            <a:ext cx="522122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1. Agent System (LangGraph)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86000"/>
            <a:ext cx="5221224" cy="1709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Résumé-to-role matching tool with explainable scoring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Interview-scheduling tool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Memory of each candidate's status across interactions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Multi-step planning for recruitment workflows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2240280"/>
          </a:xfrm>
          <a:prstGeom prst="roundRect">
            <a:avLst>
              <a:gd name="adj" fmla="val 3265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901952"/>
            <a:ext cx="522122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2. RAG Integration (LangChain)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2286000"/>
            <a:ext cx="5221224" cy="1709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HR policy and employee handbook documents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Job descriptions and role requirements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Anonymized archive of past successful hire patterns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Retrieval tuned to separate similar but distinct roles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325112"/>
            <a:ext cx="522122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3. UI Dashboard (Streamlit)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709160"/>
            <a:ext cx="5221224" cy="1572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Chat for both candidates and employees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HR dashboard: time-to-hire, screening volume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Candidate-pipeline visualization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Role-based views: candidate vs. HR staff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425196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4325112"/>
            <a:ext cx="522122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4. Deployment (FastAPI)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709160"/>
            <a:ext cx="5221224" cy="15727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Access control and secrets management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Audit logging of every screening decision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Error handling for incomplete or malformed résumés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Versioned API, monitoring, Docker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10-week timeline: six milestones</a:t>
            </a:r>
            <a:endParaRPr lang="en-US" sz="3000" dirty="0"/>
          </a:p>
        </p:txBody>
      </p:sp>
      <p:sp>
        <p:nvSpPr>
          <p:cNvPr id="3" name="Phase Setup"/>
          <p:cNvSpPr/>
          <p:nvPr/>
        </p:nvSpPr>
        <p:spPr>
          <a:xfrm>
            <a:off x="576072" y="1188720"/>
            <a:ext cx="1054303" cy="36576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188720"/>
            <a:ext cx="1054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5" name="Phase Build"/>
          <p:cNvSpPr/>
          <p:nvPr/>
        </p:nvSpPr>
        <p:spPr>
          <a:xfrm>
            <a:off x="1685239" y="1188720"/>
            <a:ext cx="6600139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85239" y="1188720"/>
            <a:ext cx="66001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7" name="Phase Test"/>
          <p:cNvSpPr/>
          <p:nvPr/>
        </p:nvSpPr>
        <p:spPr>
          <a:xfrm>
            <a:off x="8340242" y="1188720"/>
            <a:ext cx="2163470" cy="365760"/>
          </a:xfrm>
          <a:prstGeom prst="roundRect">
            <a:avLst>
              <a:gd name="adj" fmla="val 20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40242" y="1188720"/>
            <a:ext cx="21634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9" name="Phase Ship"/>
          <p:cNvSpPr/>
          <p:nvPr/>
        </p:nvSpPr>
        <p:spPr>
          <a:xfrm>
            <a:off x="10558577" y="1188720"/>
            <a:ext cx="1054303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58577" y="1188720"/>
            <a:ext cx="10543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300" dirty="0"/>
          </a:p>
        </p:txBody>
      </p:sp>
      <p:sp>
        <p:nvSpPr>
          <p:cNvPr id="11" name="Week ruler"/>
          <p:cNvSpPr/>
          <p:nvPr/>
        </p:nvSpPr>
        <p:spPr>
          <a:xfrm>
            <a:off x="548640" y="1627632"/>
            <a:ext cx="11091672" cy="411480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57807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66974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876142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985309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03643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12810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21978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31145" y="1627632"/>
            <a:ext cx="11091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300" dirty="0"/>
          </a:p>
        </p:txBody>
      </p:sp>
      <p:sp>
        <p:nvSpPr>
          <p:cNvPr id="22" name="Milestone M1"/>
          <p:cNvSpPr/>
          <p:nvPr/>
        </p:nvSpPr>
        <p:spPr>
          <a:xfrm>
            <a:off x="1228039" y="2240280"/>
            <a:ext cx="402336" cy="402336"/>
          </a:xfrm>
          <a:prstGeom prst="diamond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28039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Milestone M2"/>
          <p:cNvSpPr/>
          <p:nvPr/>
        </p:nvSpPr>
        <p:spPr>
          <a:xfrm>
            <a:off x="3044037" y="2240280"/>
            <a:ext cx="402336" cy="402336"/>
          </a:xfrm>
          <a:prstGeom prst="diamond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044037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Milestone M3"/>
          <p:cNvSpPr/>
          <p:nvPr/>
        </p:nvSpPr>
        <p:spPr>
          <a:xfrm>
            <a:off x="4923728" y="2240280"/>
            <a:ext cx="402336" cy="402336"/>
          </a:xfrm>
          <a:prstGeom prst="diamond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23728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Milestone M4"/>
          <p:cNvSpPr/>
          <p:nvPr/>
        </p:nvSpPr>
        <p:spPr>
          <a:xfrm>
            <a:off x="6783476" y="2240280"/>
            <a:ext cx="402336" cy="402336"/>
          </a:xfrm>
          <a:prstGeom prst="diamond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83476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Milestone M5"/>
          <p:cNvSpPr/>
          <p:nvPr/>
        </p:nvSpPr>
        <p:spPr>
          <a:xfrm>
            <a:off x="8603589" y="2240280"/>
            <a:ext cx="402336" cy="402336"/>
          </a:xfrm>
          <a:prstGeom prst="diamond">
            <a:avLst/>
          </a:prstGeom>
          <a:solidFill>
            <a:srgbClr val="BE1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03589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Milestone M6"/>
          <p:cNvSpPr/>
          <p:nvPr/>
        </p:nvSpPr>
        <p:spPr>
          <a:xfrm>
            <a:off x="10561625" y="2240280"/>
            <a:ext cx="402336" cy="402336"/>
          </a:xfrm>
          <a:prstGeom prst="diamond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61625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Card M1"/>
          <p:cNvSpPr/>
          <p:nvPr/>
        </p:nvSpPr>
        <p:spPr>
          <a:xfrm>
            <a:off x="548640" y="292608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EEF3F6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3063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3547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4348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repo and data plan</a:t>
            </a:r>
            <a:endParaRPr lang="en-US" sz="1300" dirty="0"/>
          </a:p>
        </p:txBody>
      </p:sp>
      <p:sp>
        <p:nvSpPr>
          <p:cNvPr id="39" name="Card M2"/>
          <p:cNvSpPr/>
          <p:nvPr/>
        </p:nvSpPr>
        <p:spPr>
          <a:xfrm>
            <a:off x="2419502" y="292608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BEED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584094" y="3063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2584094" y="3547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584094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RAG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2584094" y="44348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ready and documents ingested</a:t>
            </a:r>
            <a:endParaRPr lang="en-US" sz="1300" dirty="0"/>
          </a:p>
        </p:txBody>
      </p:sp>
      <p:sp>
        <p:nvSpPr>
          <p:cNvPr id="44" name="Card M3"/>
          <p:cNvSpPr/>
          <p:nvPr/>
        </p:nvSpPr>
        <p:spPr>
          <a:xfrm>
            <a:off x="4290365" y="292608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E3EFE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454957" y="3063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600" dirty="0"/>
          </a:p>
        </p:txBody>
      </p:sp>
      <p:sp>
        <p:nvSpPr>
          <p:cNvPr id="46" name="Text 44"/>
          <p:cNvSpPr txBox="1"/>
          <p:nvPr/>
        </p:nvSpPr>
        <p:spPr>
          <a:xfrm>
            <a:off x="4454957" y="3547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W5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54957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4454957" y="44348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matching and policy Q&amp;A working</a:t>
            </a:r>
            <a:endParaRPr lang="en-US" sz="1300" dirty="0"/>
          </a:p>
        </p:txBody>
      </p:sp>
      <p:sp>
        <p:nvSpPr>
          <p:cNvPr id="49" name="Card M4"/>
          <p:cNvSpPr/>
          <p:nvPr/>
        </p:nvSpPr>
        <p:spPr>
          <a:xfrm>
            <a:off x="6161227" y="292608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E7EEF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25819" y="3063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2600" dirty="0"/>
          </a:p>
        </p:txBody>
      </p:sp>
      <p:sp>
        <p:nvSpPr>
          <p:cNvPr id="51" name="Text 49"/>
          <p:cNvSpPr txBox="1"/>
          <p:nvPr/>
        </p:nvSpPr>
        <p:spPr>
          <a:xfrm>
            <a:off x="6325819" y="3547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W7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325819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Feature-complete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6325819" y="44348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Chats, dashboard and API connected</a:t>
            </a:r>
            <a:endParaRPr lang="en-US" sz="1300" dirty="0"/>
          </a:p>
        </p:txBody>
      </p:sp>
      <p:sp>
        <p:nvSpPr>
          <p:cNvPr id="54" name="Card M5"/>
          <p:cNvSpPr/>
          <p:nvPr/>
        </p:nvSpPr>
        <p:spPr>
          <a:xfrm>
            <a:off x="8032090" y="292608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F8E3E8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196682" y="3063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E1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2600" dirty="0"/>
          </a:p>
        </p:txBody>
      </p:sp>
      <p:sp>
        <p:nvSpPr>
          <p:cNvPr id="56" name="Text 54"/>
          <p:cNvSpPr txBox="1"/>
          <p:nvPr/>
        </p:nvSpPr>
        <p:spPr>
          <a:xfrm>
            <a:off x="8196682" y="3547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W9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196682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8196682" y="44348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sets, leak test and bias write-up done</a:t>
            </a:r>
            <a:endParaRPr lang="en-US" sz="1300" dirty="0"/>
          </a:p>
        </p:txBody>
      </p:sp>
      <p:sp>
        <p:nvSpPr>
          <p:cNvPr id="59" name="Card M6"/>
          <p:cNvSpPr/>
          <p:nvPr/>
        </p:nvSpPr>
        <p:spPr>
          <a:xfrm>
            <a:off x="9902952" y="2926080"/>
            <a:ext cx="1737360" cy="2651760"/>
          </a:xfrm>
          <a:prstGeom prst="roundRect">
            <a:avLst>
              <a:gd name="adj" fmla="val 5263"/>
            </a:avLst>
          </a:prstGeom>
          <a:solidFill>
            <a:srgbClr val="EFE8F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67544" y="30632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M6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10067544" y="3547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W10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10067544" y="388620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10067544" y="4434840"/>
            <a:ext cx="1408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Demo, README and presentation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9" name="Text 27">
            <a:extLst>
              <a:ext uri="{FF2B5EF4-FFF2-40B4-BE49-F238E27FC236}">
                <a16:creationId xmlns:a16="http://schemas.microsoft.com/office/drawing/2014/main" id="{B0D75A4D-0F14-0121-55BE-A8C53757D699}"/>
              </a:ext>
            </a:extLst>
          </p:cNvPr>
          <p:cNvSpPr txBox="1"/>
          <p:nvPr/>
        </p:nvSpPr>
        <p:spPr>
          <a:xfrm>
            <a:off x="7203643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plan: who does what, week by week</a:t>
            </a:r>
            <a:endParaRPr lang="en-US" sz="3000" dirty="0"/>
          </a:p>
        </p:txBody>
      </p:sp>
      <p:sp>
        <p:nvSpPr>
          <p:cNvPr id="3" name="Gantt panel"/>
          <p:cNvSpPr/>
          <p:nvPr/>
        </p:nvSpPr>
        <p:spPr>
          <a:xfrm>
            <a:off x="4114800" y="1097280"/>
            <a:ext cx="7498080" cy="4773168"/>
          </a:xfrm>
          <a:prstGeom prst="rect">
            <a:avLst/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0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64608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14416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64224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14032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13648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363456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13264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863072" y="1097280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813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and synthetic data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Data &amp; Docs + all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02996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16" name="Bar Setup and synthetic data"/>
          <p:cNvSpPr/>
          <p:nvPr/>
        </p:nvSpPr>
        <p:spPr>
          <a:xfrm>
            <a:off x="4151376" y="1572768"/>
            <a:ext cx="2176272" cy="36576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51376" y="15727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W1–W3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0299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57860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20" name="Bar RAG pipeline"/>
          <p:cNvSpPr/>
          <p:nvPr/>
        </p:nvSpPr>
        <p:spPr>
          <a:xfrm>
            <a:off x="4901184" y="2121408"/>
            <a:ext cx="3675888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01184" y="212140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5786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tools, LangGraph, memory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Lead + Agent Tools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12724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24" name="Bar Agent: tools, LangGraph, memory"/>
          <p:cNvSpPr/>
          <p:nvPr/>
        </p:nvSpPr>
        <p:spPr>
          <a:xfrm>
            <a:off x="4901184" y="2670048"/>
            <a:ext cx="4425696" cy="36576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01184" y="267004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W2–W7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127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security, audit log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DevOps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67588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28" name="Bar API, security, audit log"/>
          <p:cNvSpPr/>
          <p:nvPr/>
        </p:nvSpPr>
        <p:spPr>
          <a:xfrm>
            <a:off x="4901184" y="3218688"/>
            <a:ext cx="4425696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01184" y="321868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6758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chats and HR dashboard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Developer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22452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32" name="Bar UI: chats and HR dashboard"/>
          <p:cNvSpPr/>
          <p:nvPr/>
        </p:nvSpPr>
        <p:spPr>
          <a:xfrm>
            <a:off x="4901184" y="3767328"/>
            <a:ext cx="4425696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901184" y="3767328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W2–W7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2245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bias check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all members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477316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36" name="Bar Testing and bias check"/>
          <p:cNvSpPr/>
          <p:nvPr/>
        </p:nvSpPr>
        <p:spPr>
          <a:xfrm>
            <a:off x="8650224" y="4315968"/>
            <a:ext cx="2176272" cy="365760"/>
          </a:xfrm>
          <a:prstGeom prst="roundRect">
            <a:avLst>
              <a:gd name="adj" fmla="val 20000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50224" y="431596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W7–W9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773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demo prep, Showcase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48640" y="5321808"/>
            <a:ext cx="11064240" cy="0"/>
          </a:xfrm>
          <a:prstGeom prst="line">
            <a:avLst/>
          </a:prstGeom>
          <a:noFill/>
          <a:ln w="6350">
            <a:solidFill>
              <a:srgbClr val="D5DEE5"/>
            </a:solidFill>
            <a:prstDash val="solid"/>
          </a:ln>
        </p:spPr>
      </p:sp>
      <p:sp>
        <p:nvSpPr>
          <p:cNvPr id="40" name="Bar Docs, demo prep, Showcase"/>
          <p:cNvSpPr/>
          <p:nvPr/>
        </p:nvSpPr>
        <p:spPr>
          <a:xfrm>
            <a:off x="9400032" y="4864608"/>
            <a:ext cx="2176272" cy="36576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00032" y="486460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W8–W10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3218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to M6</a:t>
            </a:r>
            <a:endParaRPr lang="en-US" sz="1400" dirty="0"/>
          </a:p>
        </p:txBody>
      </p:sp>
      <p:sp>
        <p:nvSpPr>
          <p:cNvPr id="43" name="Milestone M1"/>
          <p:cNvSpPr/>
          <p:nvPr/>
        </p:nvSpPr>
        <p:spPr>
          <a:xfrm>
            <a:off x="4306824" y="5413248"/>
            <a:ext cx="365760" cy="365760"/>
          </a:xfrm>
          <a:prstGeom prst="diamond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306824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45" name="Milestone M2"/>
          <p:cNvSpPr/>
          <p:nvPr/>
        </p:nvSpPr>
        <p:spPr>
          <a:xfrm>
            <a:off x="5806440" y="5413248"/>
            <a:ext cx="365760" cy="365760"/>
          </a:xfrm>
          <a:prstGeom prst="diamond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06440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47" name="Milestone M3"/>
          <p:cNvSpPr/>
          <p:nvPr/>
        </p:nvSpPr>
        <p:spPr>
          <a:xfrm>
            <a:off x="7306056" y="5413248"/>
            <a:ext cx="365760" cy="365760"/>
          </a:xfrm>
          <a:prstGeom prst="diamond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06056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49" name="Milestone M4"/>
          <p:cNvSpPr/>
          <p:nvPr/>
        </p:nvSpPr>
        <p:spPr>
          <a:xfrm>
            <a:off x="8805672" y="5413248"/>
            <a:ext cx="365760" cy="365760"/>
          </a:xfrm>
          <a:prstGeom prst="diamond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805672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51" name="Milestone M5"/>
          <p:cNvSpPr/>
          <p:nvPr/>
        </p:nvSpPr>
        <p:spPr>
          <a:xfrm>
            <a:off x="10305288" y="5413248"/>
            <a:ext cx="365760" cy="365760"/>
          </a:xfrm>
          <a:prstGeom prst="diamond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30528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53" name="Milestone M6"/>
          <p:cNvSpPr/>
          <p:nvPr/>
        </p:nvSpPr>
        <p:spPr>
          <a:xfrm>
            <a:off x="11055096" y="5413248"/>
            <a:ext cx="365760" cy="365760"/>
          </a:xfrm>
          <a:prstGeom prst="diamond">
            <a:avLst/>
          </a:prstGeom>
          <a:solidFill>
            <a:srgbClr val="14324A"/>
          </a:solidFill>
          <a:ln w="12700">
            <a:solidFill>
              <a:srgbClr val="1432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055096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6035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22960" y="5989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395728" y="6035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670048" y="5989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242816" y="6035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17136" y="5989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Dashboard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089904" y="6035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364224" y="5989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API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936992" y="6035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11312" y="5989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784080" y="60350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058400" y="5989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docs, demo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Layered 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645920" cy="749808"/>
          </a:xfrm>
          <a:prstGeom prst="roundRect">
            <a:avLst>
              <a:gd name="adj" fmla="val 9756"/>
            </a:avLst>
          </a:prstGeom>
          <a:solidFill>
            <a:schemeClr val="accent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75488" y="1234440"/>
            <a:ext cx="160934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 · UI Layer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Streamlit + Plotly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123444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58568" y="123444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Candidate chat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123444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33088" y="123444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Employee HR-policy 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23444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07608" y="123444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HR dashboard (pipeline, time-to-hire, volume)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123444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82128" y="123444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Role-based views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1645920" cy="749808"/>
          </a:xfrm>
          <a:prstGeom prst="roundRect">
            <a:avLst>
              <a:gd name="adj" fmla="val 9756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" y="2075688"/>
            <a:ext cx="160934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 · API &amp; Security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FastAPI /api/v1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075688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58568" y="2075688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FastAPI endpoints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39896" y="2075688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58184" y="2075688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JWT auth + RBAC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39512" y="2075688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2075688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Rate limiting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39128" y="2075688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57416" y="2075688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Pydantic validation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38744" y="2075688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57032" y="2075688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Audit logging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2916936"/>
            <a:ext cx="1645920" cy="749808"/>
          </a:xfrm>
          <a:prstGeom prst="roundRect">
            <a:avLst>
              <a:gd name="adj" fmla="val 9756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" y="2916936"/>
            <a:ext cx="160934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 · Orchestration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LangGraph StateGraph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40280" y="2916936"/>
            <a:ext cx="11582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258568" y="2916936"/>
            <a:ext cx="112166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Router (intent)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89960" y="2916936"/>
            <a:ext cx="11582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08248" y="2916936"/>
            <a:ext cx="112166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Screening node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39640" y="2916936"/>
            <a:ext cx="11582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7928" y="2916936"/>
            <a:ext cx="112166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Matching node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2916936"/>
            <a:ext cx="11582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07608" y="2916936"/>
            <a:ext cx="112166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Scheduling node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39000" y="2916936"/>
            <a:ext cx="11582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57288" y="2916936"/>
            <a:ext cx="112166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Policy Q&amp;A node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88680" y="2916936"/>
            <a:ext cx="1158240" cy="749808"/>
          </a:xfrm>
          <a:prstGeom prst="roundRect">
            <a:avLst>
              <a:gd name="adj" fmla="val 9756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6968" y="2916936"/>
            <a:ext cx="112166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Error / fallback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758184"/>
            <a:ext cx="1645920" cy="749808"/>
          </a:xfrm>
          <a:prstGeom prst="roundRect">
            <a:avLst>
              <a:gd name="adj" fmla="val 9756"/>
            </a:avLst>
          </a:prstGeom>
          <a:solidFill>
            <a:schemeClr val="accent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" y="3758184"/>
            <a:ext cx="160934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 · Tools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LangChain @tool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40280" y="3758184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258568" y="3758184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parse_resume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739896" y="3758184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758184" y="3758184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match_to_role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239512" y="3758184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257800" y="3758184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schedule_interview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39128" y="3758184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57416" y="3758184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candidate_status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238744" y="3758184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57032" y="3758184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search_policy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4599432"/>
            <a:ext cx="1645920" cy="749808"/>
          </a:xfrm>
          <a:prstGeom prst="roundRect">
            <a:avLst>
              <a:gd name="adj" fmla="val 9756"/>
            </a:avLst>
          </a:prstGeom>
          <a:solidFill>
            <a:schemeClr val="accent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75488" y="4599432"/>
            <a:ext cx="160934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 · RAG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LangChain retrievers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240280" y="4599432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258568" y="4599432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Document loaders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739896" y="4599432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758184" y="4599432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Text splitter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239512" y="4599432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257800" y="4599432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Embeddings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739128" y="4599432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57416" y="4599432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Chroma + metadata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238744" y="4599432"/>
            <a:ext cx="1408176" cy="749808"/>
          </a:xfrm>
          <a:prstGeom prst="roundRect">
            <a:avLst>
              <a:gd name="adj" fmla="val 9756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57032" y="4599432"/>
            <a:ext cx="137160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Role-aware retriever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57200" y="5440680"/>
            <a:ext cx="1645920" cy="749808"/>
          </a:xfrm>
          <a:prstGeom prst="roundRect">
            <a:avLst>
              <a:gd name="adj" fmla="val 9756"/>
            </a:avLst>
          </a:prstGeom>
          <a:solidFill>
            <a:schemeClr val="accent6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75488" y="5440680"/>
            <a:ext cx="160934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 ·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</a:rPr>
              <a:t>Storage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240280" y="544068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258568" y="544068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ChromaDB (vectors)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114800" y="544068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133088" y="544068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SQLite / Postgres: candidates, interviews, audit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989320" y="544068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007608" y="544068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LangGraph checkpoints (memory)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7863840" y="5440680"/>
            <a:ext cx="1783080" cy="749808"/>
          </a:xfrm>
          <a:prstGeom prst="roundRect">
            <a:avLst>
              <a:gd name="adj" fmla="val 9756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882128" y="5440680"/>
            <a:ext cx="1746504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Raw docs: handbook, JDs, past hires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875520" y="1234440"/>
            <a:ext cx="1856232" cy="4956048"/>
          </a:xfrm>
          <a:prstGeom prst="roundRect">
            <a:avLst>
              <a:gd name="adj" fmla="val 3941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966960" y="1280160"/>
            <a:ext cx="1673352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Cross-cutting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9985248" y="1737360"/>
            <a:ext cx="1636776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003536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LLM via LangChain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9985248" y="2468880"/>
            <a:ext cx="1636776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003536" y="2468880"/>
            <a:ext cx="1600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LangSmith tracing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9985248" y="3200400"/>
            <a:ext cx="1636776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0003536" y="3200400"/>
            <a:ext cx="1600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Token / cost tracking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9985248" y="3931920"/>
            <a:ext cx="1636776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003536" y="3931920"/>
            <a:ext cx="1600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.env secrets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9985248" y="4663440"/>
            <a:ext cx="1636776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003536" y="4663440"/>
            <a:ext cx="1600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Docker Compose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985248" y="5394960"/>
            <a:ext cx="1636776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003536" y="5394960"/>
            <a:ext cx="160020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Structured logging</a:t>
            </a:r>
            <a:endParaRPr lang="en-US" sz="1200" dirty="0"/>
          </a:p>
        </p:txBody>
      </p:sp>
      <p:sp>
        <p:nvSpPr>
          <p:cNvPr id="8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The architecture in simple words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Think of TawzeefAI as a small, well-organized HR office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55064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55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00200"/>
            <a:ext cx="5029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UI: </a:t>
            </a:r>
            <a:r>
              <a:rPr lang="en-US" sz="1400" dirty="0">
                <a:solidFill>
                  <a:schemeClr val="tx1"/>
                </a:solidFill>
              </a:rPr>
              <a:t>The reception desk: where people talk to the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86584"/>
            <a:ext cx="5029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API: </a:t>
            </a:r>
            <a:r>
              <a:rPr lang="en-US" sz="1400" dirty="0">
                <a:solidFill>
                  <a:schemeClr val="tx1"/>
                </a:solidFill>
              </a:rPr>
              <a:t>The security guard: checks your ID badge and role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27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72968"/>
            <a:ext cx="5029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LangGraph agent: </a:t>
            </a:r>
            <a:r>
              <a:rPr lang="en-US" sz="1400" dirty="0">
                <a:solidFill>
                  <a:schemeClr val="tx1"/>
                </a:solidFill>
              </a:rPr>
              <a:t>The HR manager: decides who should handle each request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14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959352"/>
            <a:ext cx="5029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Tools: </a:t>
            </a:r>
            <a:r>
              <a:rPr lang="en-US" sz="1400" dirty="0">
                <a:solidFill>
                  <a:schemeClr val="tx1"/>
                </a:solidFill>
              </a:rPr>
              <a:t>Specialist staff: the screener and the scheduler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45736"/>
            <a:ext cx="5029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RAG: </a:t>
            </a:r>
            <a:r>
              <a:rPr lang="en-US" sz="1400" dirty="0">
                <a:solidFill>
                  <a:schemeClr val="tx1"/>
                </a:solidFill>
              </a:rPr>
              <a:t>The filing cabinet: finds the right policy or job description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86984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586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532120"/>
            <a:ext cx="50292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Data: </a:t>
            </a:r>
            <a:r>
              <a:rPr lang="en-US" sz="1400" dirty="0">
                <a:solidFill>
                  <a:schemeClr val="tx1"/>
                </a:solidFill>
              </a:rPr>
              <a:t>The archive room: keeps records, logs and memory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1097280"/>
            <a:ext cx="5029200" cy="5257800"/>
          </a:xfrm>
          <a:prstGeom prst="roundRect">
            <a:avLst>
              <a:gd name="adj" fmla="val 1455"/>
            </a:avLst>
          </a:prstGeom>
          <a:solidFill>
            <a:schemeClr val="accent1">
              <a:alpha val="8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1188720"/>
            <a:ext cx="46634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Example: a candidate applies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66560" y="178308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665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737360"/>
            <a:ext cx="41148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Candidate uploads a résumé in the chat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66560" y="253288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6656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487168"/>
            <a:ext cx="41148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API checks the login and role, then rate-limits and validates the file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66560" y="328269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6656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3236976"/>
            <a:ext cx="41148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Router recognizes a screening request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66560" y="4032504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6656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60920" y="3986784"/>
            <a:ext cx="41148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Tools parse the résumé; RAG fetches the role's job description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766560" y="4782312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6656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360920" y="4736592"/>
            <a:ext cx="41148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Matcher scores skills, experience and education, and explains why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766560" y="553212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76656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486400"/>
            <a:ext cx="4114800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Status is saved to memory; HR sees the ranked list on the dashboard</a:t>
            </a:r>
            <a:endParaRPr lang="en-US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Agent workflow with LangGraph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2720340"/>
            <a:ext cx="1737360" cy="1371600"/>
          </a:xfrm>
          <a:prstGeom prst="roundRect">
            <a:avLst>
              <a:gd name="adj" fmla="val 5333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720340"/>
            <a:ext cx="164592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START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User message + role + thread_id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272034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88920" y="2720340"/>
            <a:ext cx="17373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Router 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LLM intent classifier + conditional edges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3406140"/>
            <a:ext cx="4572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1325880"/>
            <a:ext cx="3200400" cy="914400"/>
          </a:xfrm>
          <a:prstGeom prst="roundRect">
            <a:avLst>
              <a:gd name="adj" fmla="val 8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325880"/>
            <a:ext cx="3017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Policy Q&amp;A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retrieve handbook chunks, answer with citations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V="1">
            <a:off x="4572000" y="1783080"/>
            <a:ext cx="548640" cy="16230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21040" y="1783080"/>
            <a:ext cx="548640" cy="16230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2377440"/>
            <a:ext cx="3200400" cy="914400"/>
          </a:xfrm>
          <a:prstGeom prst="roundRect">
            <a:avLst>
              <a:gd name="adj" fmla="val 80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12080" y="2377440"/>
            <a:ext cx="3017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Résumé Screening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parse, match to role, explain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flipV="1">
            <a:off x="4572000" y="2834640"/>
            <a:ext cx="548640" cy="5715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321040" y="2834640"/>
            <a:ext cx="548640" cy="5715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3429000"/>
            <a:ext cx="3200400" cy="914400"/>
          </a:xfrm>
          <a:prstGeom prst="roundRect">
            <a:avLst>
              <a:gd name="adj" fmla="val 80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3429000"/>
            <a:ext cx="3017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4"/>
                </a:solidFill>
              </a:rPr>
              <a:t>Interview Scheduling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check availability, book slot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406140"/>
            <a:ext cx="548640" cy="4800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8321040" y="3406140"/>
            <a:ext cx="548640" cy="4800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20640" y="4480560"/>
            <a:ext cx="3200400" cy="914400"/>
          </a:xfrm>
          <a:prstGeom prst="roundRect">
            <a:avLst>
              <a:gd name="adj" fmla="val 80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4480560"/>
            <a:ext cx="301752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Candidate Status</a:t>
            </a:r>
            <a:endParaRPr lang="en-US" sz="12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look up or update pipeline stage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406140"/>
            <a:ext cx="548640" cy="15316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8321040" y="3406140"/>
            <a:ext cx="548640" cy="15316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69680" y="272034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15400" y="2720340"/>
            <a:ext cx="2651760" cy="1371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Respond node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Compose answer, add sources, write audit log, then 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" y="5669280"/>
            <a:ext cx="341985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Shared state: </a:t>
            </a:r>
            <a:r>
              <a:rPr lang="en-US" sz="1200" dirty="0">
                <a:solidFill>
                  <a:schemeClr val="tx1"/>
                </a:solidFill>
              </a:rPr>
              <a:t>messages, user_role, candidate_id, retrieved_docs, scores, status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97680" y="566928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70832" y="5669280"/>
            <a:ext cx="341985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Memory: </a:t>
            </a:r>
            <a:r>
              <a:rPr lang="en-US" sz="1200" dirty="0">
                <a:solidFill>
                  <a:schemeClr val="tx1"/>
                </a:solidFill>
              </a:rPr>
              <a:t>SqliteSaver checkpointer per thread + candidate status table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566928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19872" y="5669280"/>
            <a:ext cx="3419856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Error handling: </a:t>
            </a:r>
            <a:r>
              <a:rPr lang="en-US" sz="1200" dirty="0">
                <a:solidFill>
                  <a:schemeClr val="tx1"/>
                </a:solidFill>
              </a:rPr>
              <a:t>retries on LLM calls; fallback node returns a safe message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RAG pipeline and tools with LangChain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618488" cy="2240280"/>
          </a:xfrm>
          <a:prstGeom prst="roundRect">
            <a:avLst>
              <a:gd name="adj" fmla="val 452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25880"/>
            <a:ext cx="1527048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1. Ingest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HR handbook, job descriptions, anonymized past hires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67128" y="2395728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41448" y="1280160"/>
            <a:ext cx="1618488" cy="2240280"/>
          </a:xfrm>
          <a:prstGeom prst="roundRect">
            <a:avLst>
              <a:gd name="adj" fmla="val 452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87168" y="1325880"/>
            <a:ext cx="1527048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2. Chunk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Recursive text splitter; by section for policy, by role for JDs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59936" y="2395728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34256" y="1280160"/>
            <a:ext cx="1618488" cy="2240280"/>
          </a:xfrm>
          <a:prstGeom prst="roundRect">
            <a:avLst>
              <a:gd name="adj" fmla="val 452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79976" y="1325880"/>
            <a:ext cx="1527048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3. Embed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Multilingual embeddings for Arabic and English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52744" y="2395728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27064" y="1280160"/>
            <a:ext cx="1618488" cy="2240280"/>
          </a:xfrm>
          <a:prstGeom prst="roundRect">
            <a:avLst>
              <a:gd name="adj" fmla="val 452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325880"/>
            <a:ext cx="1527048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4. Store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Chroma with metadata: doc_type, role, department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45552" y="2395728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19872" y="1280160"/>
            <a:ext cx="1618488" cy="2240280"/>
          </a:xfrm>
          <a:prstGeom prst="roundRect">
            <a:avLst>
              <a:gd name="adj" fmla="val 452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5592" y="1325880"/>
            <a:ext cx="1527048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5. Retrieve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Metadata-filtered MMR retriever separates similar roles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38360" y="2395728"/>
            <a:ext cx="2743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1280160"/>
            <a:ext cx="1618488" cy="2240280"/>
          </a:xfrm>
          <a:prstGeom prst="roundRect">
            <a:avLst>
              <a:gd name="adj" fmla="val 452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0" y="1325880"/>
            <a:ext cx="1527048" cy="2148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6. Generate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LLM answer grounded in chunks, with citations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440680" cy="2606040"/>
          </a:xfrm>
          <a:prstGeom prst="roundRect">
            <a:avLst>
              <a:gd name="adj" fmla="val 280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3822192"/>
            <a:ext cx="522122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LangChain tools the agent can call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206240"/>
            <a:ext cx="5221224" cy="2075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parse_resume: PDF/DOCX to structured JSON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match_resume_to_role: explainable score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schedule_interview: availability and booking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candidate_status: read/update pipeline stage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search_policy: retriever wrapped as a tool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3749040"/>
            <a:ext cx="5440680" cy="2606040"/>
          </a:xfrm>
          <a:prstGeom prst="roundRect">
            <a:avLst>
              <a:gd name="adj" fmla="val 280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81928" y="3822192"/>
            <a:ext cx="522122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Explainable, bias-aware matching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281928" y="4206240"/>
            <a:ext cx="5221224" cy="20756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Score = skills + experience + education + semantic similarity, each shown to HR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Name, gender, age and photo stripped before scoring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Past-hire patterns guide, never auto-reject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decision written to the audit log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Deployment, security and success metrics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749040" cy="2468880"/>
          </a:xfrm>
          <a:prstGeom prst="roundRect">
            <a:avLst>
              <a:gd name="adj" fmla="val 296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53312"/>
            <a:ext cx="3529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Access control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3529584" cy="1938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Roles: candidate, employee, HR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JWT auth; candidates see only their own record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Secrets in .env, never in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1280160"/>
            <a:ext cx="3749040" cy="2468880"/>
          </a:xfrm>
          <a:prstGeom prst="roundRect">
            <a:avLst>
              <a:gd name="adj" fmla="val 296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90288" y="1353312"/>
            <a:ext cx="3529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Deployment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90288" y="1737360"/>
            <a:ext cx="3529584" cy="19385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Versioned FastAPI /api/v1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Docker Compose: api, UI, Chroma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Health endpoint and rate limiting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3749040" cy="2423160"/>
          </a:xfrm>
          <a:prstGeom prst="roundRect">
            <a:avLst>
              <a:gd name="adj" fmla="val 301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4005072"/>
            <a:ext cx="3529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Monitoring and logs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389120"/>
            <a:ext cx="3529584" cy="1892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Token and cost per conversation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Latency and error-rate tracking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LangSmith traces; audit log per decision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80560" y="3931920"/>
            <a:ext cx="3749040" cy="2423160"/>
          </a:xfrm>
          <a:prstGeom prst="roundRect">
            <a:avLst>
              <a:gd name="adj" fmla="val 3019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0288" y="4005072"/>
            <a:ext cx="3529584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Error handling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4389120"/>
            <a:ext cx="3529584" cy="1892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Pydantic input validation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Fallback for incomplete or malformed résumés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Retries, then a clear safe message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03920" y="1280160"/>
            <a:ext cx="3108960" cy="1143000"/>
          </a:xfrm>
          <a:prstGeom prst="roundRect">
            <a:avLst>
              <a:gd name="adj" fmla="val 64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1325880"/>
            <a:ext cx="29260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1"/>
                </a:solidFill>
              </a:rPr>
              <a:t>8 / 10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candidates ranked correctly for a defined role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2560320"/>
            <a:ext cx="3108960" cy="1143000"/>
          </a:xfrm>
          <a:prstGeom prst="roundRect">
            <a:avLst>
              <a:gd name="adj" fmla="val 64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5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3154680"/>
            <a:ext cx="2926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 leaks between candidate and HR views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3840480"/>
            <a:ext cx="3108960" cy="1143000"/>
          </a:xfrm>
          <a:prstGeom prst="roundRect">
            <a:avLst>
              <a:gd name="adj" fmla="val 6400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3886200"/>
            <a:ext cx="29260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4"/>
                </a:solidFill>
              </a:rPr>
              <a:t>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4434840"/>
            <a:ext cx="2926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unhandled exceptions in scripted tests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5120640"/>
            <a:ext cx="3108960" cy="1143000"/>
          </a:xfrm>
          <a:prstGeom prst="roundRect">
            <a:avLst>
              <a:gd name="adj" fmla="val 64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Lower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5715000"/>
            <a:ext cx="292608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screening time vs. manual baseline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Fair team split: 6 members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Member 1: Agent Lead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LangGraph orchestration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StateGraph and shared state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Router node, conditional edges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Memory via checkpointer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Fallback node, multi-step flows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97680" y="118872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123444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Member 2: Agent Tools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LangChain tools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87452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parse_resume, match_resume_to_role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schedule_interview, candidate_status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Explainable scoring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Bias write-up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0" y="118872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0" y="123444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Member 3: RAG Engineer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LangChain + Chroma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187452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Loaders, chunking, embeddings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Chroma collections + metadata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Role-aware retriever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HR policy Q&amp;A with citations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Member 4: UI Developer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Streamlit + Plotly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4340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Candidate and employee chat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HR dashboard and pipeline chart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Role-based views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Résumé upload, ranking tables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97680" y="3657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912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Member 5: Backend &amp; DevOps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FastAPI + Docker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34340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Versioned /api/v1 endpoints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JWT, RBAC, rate limit, secrets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Audit log, token/cost tracking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Docker Compose, health checks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046720" y="3657600"/>
            <a:ext cx="3566160" cy="2331720"/>
          </a:xfrm>
          <a:prstGeom prst="roundRect">
            <a:avLst>
              <a:gd name="adj" fmla="val 3137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3703320"/>
            <a:ext cx="338328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Member 6: QA, Data &amp; Docs</a:t>
            </a:r>
            <a:endParaRPr lang="en-US" sz="1200" dirty="0"/>
          </a:p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Quality and delivery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34340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Synthetic résumés, JDs, handbook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10-case test sets, leak test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Screening-time baseline</a:t>
            </a:r>
            <a:endParaRPr lang="en-US" sz="13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README, demo script, deck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Everyone: reviews at least two teammates' pull requests, writes tests for their own module, and presents their own part at the Showcase.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how we solve them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188720"/>
          <a:ext cx="11091672" cy="469087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BE1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in résumé matching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name, gender, age and photo before scoring; show the score breakdown to HR; past hires only guide, never auto-reject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leaks between candidate and HR 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login with roles; candidates see only their own record; leak test must show 0 leaks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or malformed résumés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every upload; fallback message instead of a crash; test with broken files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HR policy answers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only from retrieved handbook text with citations; reply "not found" otherwise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roles mixed up in retrieval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by role metadata; MMR retriever; test on look-alike roles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Exposed secrets and untraceable decisions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in .env, never in code; audit log for every screening decision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wzeefAI">
  <a:themeElements>
    <a:clrScheme name="TawzeefAI">
      <a:dk1>
        <a:srgbClr val="1B1F2A"/>
      </a:dk1>
      <a:lt1>
        <a:srgbClr val="FFFFFF"/>
      </a:lt1>
      <a:dk2>
        <a:srgbClr val="14324A"/>
      </a:dk2>
      <a:lt2>
        <a:srgbClr val="EEF3F6"/>
      </a:lt2>
      <a:accent1>
        <a:srgbClr val="0F766E"/>
      </a:accent1>
      <a:accent2>
        <a:srgbClr val="D97706"/>
      </a:accent2>
      <a:accent3>
        <a:srgbClr val="2563EB"/>
      </a:accent3>
      <a:accent4>
        <a:srgbClr val="7C3AED"/>
      </a:accent4>
      <a:accent5>
        <a:srgbClr val="BE123C"/>
      </a:accent5>
      <a:accent6>
        <a:srgbClr val="64748B"/>
      </a:accent6>
      <a:hlink>
        <a:srgbClr val="2563EB"/>
      </a:hlink>
      <a:folHlink>
        <a:srgbClr val="7C3AED"/>
      </a:folHlink>
    </a:clrScheme>
    <a:fontScheme name="Tawzeef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1497</Words>
  <Application>Microsoft Office PowerPoint</Application>
  <PresentationFormat>Widescreen</PresentationFormat>
  <Paragraphs>349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TawzeefAI</vt:lpstr>
      <vt:lpstr>TawzeefAI</vt:lpstr>
      <vt:lpstr>What TawzeefAI must deliver</vt:lpstr>
      <vt:lpstr>PowerPoint Presentation</vt:lpstr>
      <vt:lpstr>PowerPoint Presentation</vt:lpstr>
      <vt:lpstr>Layered system architecture</vt:lpstr>
      <vt:lpstr>The architecture in simple words</vt:lpstr>
      <vt:lpstr>Agent workflow with LangGraph</vt:lpstr>
      <vt:lpstr>RAG pipeline and tools with LangChain</vt:lpstr>
      <vt:lpstr>Deployment, security and success metrics</vt:lpstr>
      <vt:lpstr>Fair team split: 6 members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TawzeefAI - Detailed Architecture</dc:title>
  <dc:subject>PptxGenJS Presentation</dc:subject>
  <dc:creator>PptxGenJS</dc:creator>
  <cp:lastModifiedBy>سماء حسام محمد صابر محمد</cp:lastModifiedBy>
  <cp:revision>2</cp:revision>
  <dcterms:created xsi:type="dcterms:W3CDTF">2026-10-12T17:11:14Z</dcterms:created>
  <dcterms:modified xsi:type="dcterms:W3CDTF">2026-10-16T18:54:17Z</dcterms:modified>
</cp:coreProperties>
</file>